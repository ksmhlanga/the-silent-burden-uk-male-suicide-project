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 rate</c:v>
                </c:pt>
              </c:strCache>
            </c:strRef>
          </c:tx>
          <c:spPr>
            <a:ln w="31750" cap="flat">
              <a:solidFill>
                <a:srgbClr val="E052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260"/>
              </a:solidFill>
              <a:ln w="9525" cap="flat">
                <a:solidFill>
                  <a:srgbClr val="E05260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'00</c:v>
                </c:pt>
                <c:pt idx="1">
                  <c:v>'02</c:v>
                </c:pt>
                <c:pt idx="2">
                  <c:v>'04</c:v>
                </c:pt>
                <c:pt idx="3">
                  <c:v>'06</c:v>
                </c:pt>
                <c:pt idx="4">
                  <c:v>'08</c:v>
                </c:pt>
                <c:pt idx="5">
                  <c:v>'10</c:v>
                </c:pt>
                <c:pt idx="6">
                  <c:v>'12</c:v>
                </c:pt>
                <c:pt idx="7">
                  <c:v>'14</c:v>
                </c:pt>
                <c:pt idx="8">
                  <c:v>'16</c:v>
                </c:pt>
                <c:pt idx="9">
                  <c:v>'18</c:v>
                </c:pt>
                <c:pt idx="10">
                  <c:v>'20</c:v>
                </c:pt>
                <c:pt idx="11">
                  <c:v>'22</c:v>
                </c:pt>
                <c:pt idx="12">
                  <c:v>'24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16.8</c:v>
                </c:pt>
                <c:pt idx="1">
                  <c:v>15.6</c:v>
                </c:pt>
                <c:pt idx="2">
                  <c:v>16.399999999999999</c:v>
                </c:pt>
                <c:pt idx="3">
                  <c:v>16.899999999999999</c:v>
                </c:pt>
                <c:pt idx="4">
                  <c:v>17.2</c:v>
                </c:pt>
                <c:pt idx="5">
                  <c:v>17.3</c:v>
                </c:pt>
                <c:pt idx="6">
                  <c:v>16.8</c:v>
                </c:pt>
                <c:pt idx="7">
                  <c:v>18.2</c:v>
                </c:pt>
                <c:pt idx="8">
                  <c:v>16.899999999999999</c:v>
                </c:pt>
                <c:pt idx="9">
                  <c:v>16.8</c:v>
                </c:pt>
                <c:pt idx="10">
                  <c:v>15.9</c:v>
                </c:pt>
                <c:pt idx="11">
                  <c:v>17.100000000000001</c:v>
                </c:pt>
                <c:pt idx="12">
                  <c:v>17.600000000000001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F4-499C-834D-B9C27903AB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 rate</c:v>
                </c:pt>
              </c:strCache>
            </c:strRef>
          </c:tx>
          <c:spPr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'00</c:v>
                </c:pt>
                <c:pt idx="1">
                  <c:v>'02</c:v>
                </c:pt>
                <c:pt idx="2">
                  <c:v>'04</c:v>
                </c:pt>
                <c:pt idx="3">
                  <c:v>'06</c:v>
                </c:pt>
                <c:pt idx="4">
                  <c:v>'08</c:v>
                </c:pt>
                <c:pt idx="5">
                  <c:v>'10</c:v>
                </c:pt>
                <c:pt idx="6">
                  <c:v>'12</c:v>
                </c:pt>
                <c:pt idx="7">
                  <c:v>'14</c:v>
                </c:pt>
                <c:pt idx="8">
                  <c:v>'16</c:v>
                </c:pt>
                <c:pt idx="9">
                  <c:v>'18</c:v>
                </c:pt>
                <c:pt idx="10">
                  <c:v>'20</c:v>
                </c:pt>
                <c:pt idx="11">
                  <c:v>'22</c:v>
                </c:pt>
                <c:pt idx="12">
                  <c:v>'24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5.0999999999999996</c:v>
                </c:pt>
                <c:pt idx="1">
                  <c:v>5</c:v>
                </c:pt>
                <c:pt idx="2">
                  <c:v>4.8</c:v>
                </c:pt>
                <c:pt idx="3">
                  <c:v>4.9000000000000004</c:v>
                </c:pt>
                <c:pt idx="4">
                  <c:v>5</c:v>
                </c:pt>
                <c:pt idx="5">
                  <c:v>5.2</c:v>
                </c:pt>
                <c:pt idx="6">
                  <c:v>5.0999999999999996</c:v>
                </c:pt>
                <c:pt idx="7">
                  <c:v>5.4</c:v>
                </c:pt>
                <c:pt idx="8">
                  <c:v>5</c:v>
                </c:pt>
                <c:pt idx="9">
                  <c:v>5.0999999999999996</c:v>
                </c:pt>
                <c:pt idx="10">
                  <c:v>4.9000000000000004</c:v>
                </c:pt>
                <c:pt idx="11">
                  <c:v>5.3</c:v>
                </c:pt>
                <c:pt idx="12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F4-499C-834D-B9C27903AB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 rate per 100,000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61-47F7-BFA6-BB62EE06E837}"/>
              </c:ext>
            </c:extLst>
          </c:dPt>
          <c:dPt>
            <c:idx val="1"/>
            <c:invertIfNegative val="0"/>
            <c:bubble3D val="0"/>
            <c:spPr>
              <a:solidFill>
                <a:srgbClr val="E052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61-47F7-BFA6-BB62EE06E837}"/>
              </c:ext>
            </c:extLst>
          </c:dPt>
          <c:dPt>
            <c:idx val="2"/>
            <c:invertIfNegative val="0"/>
            <c:bubble3D val="0"/>
            <c:spPr>
              <a:solidFill>
                <a:srgbClr val="D087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61-47F7-BFA6-BB62EE06E837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61-47F7-BFA6-BB62EE06E8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England</c:v>
                </c:pt>
                <c:pt idx="1">
                  <c:v>Scotland</c:v>
                </c:pt>
                <c:pt idx="2">
                  <c:v>Wales</c:v>
                </c:pt>
                <c:pt idx="3">
                  <c:v>N. Ireland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19.3</c:v>
                </c:pt>
                <c:pt idx="2">
                  <c:v>25</c:v>
                </c:pt>
                <c:pt idx="3">
                  <c:v>20.9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61-47F7-BFA6-BB62EE06E8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Detention rate index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9D-451C-9E48-DB57DCAB701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49D-451C-9E48-DB57DCAB701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49D-451C-9E48-DB57DCAB701E}"/>
              </c:ext>
            </c:extLst>
          </c:dPt>
          <c:dPt>
            <c:idx val="3"/>
            <c:invertIfNegative val="0"/>
            <c:bubble3D val="0"/>
            <c:spPr>
              <a:solidFill>
                <a:srgbClr val="E052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9D-451C-9E48-DB57DCAB701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49D-451C-9E48-DB57DCAB70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White British</c:v>
                </c:pt>
                <c:pt idx="1">
                  <c:v>Mixed</c:v>
                </c:pt>
                <c:pt idx="2">
                  <c:v>South Asian</c:v>
                </c:pt>
                <c:pt idx="3">
                  <c:v>Black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1.8</c:v>
                </c:pt>
                <c:pt idx="2">
                  <c:v>1.6</c:v>
                </c:pt>
                <c:pt idx="3">
                  <c:v>4</c:v>
                </c:pt>
                <c:pt idx="4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9D-451C-9E48-DB57DCAB70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White British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Referred</c:v>
                </c:pt>
                <c:pt idx="1">
                  <c:v>Assessed</c:v>
                </c:pt>
                <c:pt idx="2">
                  <c:v>Completed</c:v>
                </c:pt>
                <c:pt idx="3">
                  <c:v>Improved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82</c:v>
                </c:pt>
                <c:pt idx="2">
                  <c:v>64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84-46F8-B396-0993563901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Minority Men</c:v>
                </c:pt>
              </c:strCache>
            </c:strRef>
          </c:tx>
          <c:spPr>
            <a:solidFill>
              <a:srgbClr val="E052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Referred</c:v>
                </c:pt>
                <c:pt idx="1">
                  <c:v>Assessed</c:v>
                </c:pt>
                <c:pt idx="2">
                  <c:v>Completed</c:v>
                </c:pt>
                <c:pt idx="3">
                  <c:v>Improved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68</c:v>
                </c:pt>
                <c:pt idx="2">
                  <c:v>50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84-46F8-B396-0993563901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per 100,000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2F-4C37-B1D7-3480861CA79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C2F-4C37-B1D7-3480861CA79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C2F-4C37-B1D7-3480861CA79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C2F-4C37-B1D7-3480861CA79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C2F-4C37-B1D7-3480861CA79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C2F-4C37-B1D7-3480861CA79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C2F-4C37-B1D7-3480861CA79F}"/>
              </c:ext>
            </c:extLst>
          </c:dPt>
          <c:dPt>
            <c:idx val="7"/>
            <c:invertIfNegative val="0"/>
            <c:bubble3D val="0"/>
            <c:spPr>
              <a:solidFill>
                <a:srgbClr val="E052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C2F-4C37-B1D7-3480861CA79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C2F-4C37-B1D7-3480861CA79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2C2F-4C37-B1D7-3480861CA79F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2C2F-4C37-B1D7-3480861CA7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15-19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65+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5.6</c:v>
                </c:pt>
                <c:pt idx="1">
                  <c:v>12.4</c:v>
                </c:pt>
                <c:pt idx="2">
                  <c:v>15.1</c:v>
                </c:pt>
                <c:pt idx="3">
                  <c:v>17.8</c:v>
                </c:pt>
                <c:pt idx="4">
                  <c:v>19.2</c:v>
                </c:pt>
                <c:pt idx="5">
                  <c:v>21.1</c:v>
                </c:pt>
                <c:pt idx="6">
                  <c:v>22.8</c:v>
                </c:pt>
                <c:pt idx="7">
                  <c:v>27.5</c:v>
                </c:pt>
                <c:pt idx="8">
                  <c:v>24.3</c:v>
                </c:pt>
                <c:pt idx="9">
                  <c:v>18.899999999999999</c:v>
                </c:pt>
                <c:pt idx="10">
                  <c:v>12.1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C2F-4C37-B1D7-3480861CA7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England &amp; Wales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16.8</c:v>
                </c:pt>
                <c:pt idx="1">
                  <c:v>16.399999999999999</c:v>
                </c:pt>
                <c:pt idx="2">
                  <c:v>15.9</c:v>
                </c:pt>
                <c:pt idx="3">
                  <c:v>16</c:v>
                </c:pt>
                <c:pt idx="4">
                  <c:v>16.399999999999999</c:v>
                </c:pt>
                <c:pt idx="5">
                  <c:v>17.100000000000001</c:v>
                </c:pt>
                <c:pt idx="6">
                  <c:v>17.600000000000001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F1-433B-B3B5-0C32ADFEC9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Scotland</c:v>
                </c:pt>
              </c:strCache>
            </c:strRef>
          </c:tx>
          <c:spPr>
            <a:ln w="31750" cap="flat">
              <a:solidFill>
                <a:srgbClr val="E052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260"/>
              </a:solidFill>
              <a:ln w="9525" cap="flat">
                <a:solidFill>
                  <a:srgbClr val="E0526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17.5</c:v>
                </c:pt>
                <c:pt idx="1">
                  <c:v>17.100000000000001</c:v>
                </c:pt>
                <c:pt idx="2">
                  <c:v>16.3</c:v>
                </c:pt>
                <c:pt idx="3">
                  <c:v>16</c:v>
                </c:pt>
                <c:pt idx="4">
                  <c:v>17.2</c:v>
                </c:pt>
                <c:pt idx="5">
                  <c:v>18.399999999999999</c:v>
                </c:pt>
                <c:pt idx="6">
                  <c:v>19.3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F1-433B-B3B5-0C32ADFEC9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N. Ireland</c:v>
                </c:pt>
              </c:strCache>
            </c:strRef>
          </c:tx>
          <c:spPr>
            <a:ln w="31750" cap="flat">
              <a:solidFill>
                <a:srgbClr val="D087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08726"/>
              </a:solidFill>
              <a:ln w="9525" cap="flat">
                <a:solidFill>
                  <a:srgbClr val="D0872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20.100000000000001</c:v>
                </c:pt>
                <c:pt idx="1">
                  <c:v>19.8</c:v>
                </c:pt>
                <c:pt idx="2">
                  <c:v>18.899999999999999</c:v>
                </c:pt>
                <c:pt idx="3">
                  <c:v>19.2</c:v>
                </c:pt>
                <c:pt idx="4">
                  <c:v>19.7</c:v>
                </c:pt>
                <c:pt idx="5">
                  <c:v>20.3</c:v>
                </c:pt>
                <c:pt idx="6">
                  <c:v>20.9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F1-433B-B3B5-0C32ADFEC9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3"/>
          <c:min val="1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561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274320" cy="7086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MALE SUICIDE, RACE &amp; MENTAL HEALTH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Burden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Kudzanayi Shepherd Mhlanga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Data Analytics Portfolio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4988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 |  NHS Digital  |  NISRA  |  Public Health Scotland  |  Samaritans  |  2000-2024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IN NUMBERS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a man who didn't come home.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05840"/>
            <a:ext cx="20116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UK suicides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for 30 years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005840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005840"/>
            <a:ext cx="2011680" cy="109728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3716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651760" y="2578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100,000 male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 2024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429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this century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05840"/>
            <a:ext cx="2011680" cy="109728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716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8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846320" y="2578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have a mental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problem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in 3 seek help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1005840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005840"/>
            <a:ext cx="201168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3716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858000" y="2578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MHA detention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Black men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429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White British men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D948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Being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749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crisis within the crisis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548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minority men the system wasn't built for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49040" y="1188720"/>
            <a:ext cx="5120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1188720"/>
            <a:ext cx="457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2252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African &amp; Caribbean men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higher MHA detention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0" y="1307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307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1901952"/>
            <a:ext cx="5120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901952"/>
            <a:ext cx="45720" cy="59436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1938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Asian men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22219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under-referred to therapy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0" y="2020824"/>
            <a:ext cx="1645920" cy="292608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020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49040" y="2615184"/>
            <a:ext cx="5120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2615184"/>
            <a:ext cx="45720" cy="594360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Gypsy, Roma &amp; Traveller men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293522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 year life expectancy gap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2734056"/>
            <a:ext cx="1645920" cy="292608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7340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49040" y="3328416"/>
            <a:ext cx="5120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49040" y="3328416"/>
            <a:ext cx="457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Refugee &amp; asylum-seeking men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86200" y="364845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trauma exposure, least support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3447288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34472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49040" y="4041648"/>
            <a:ext cx="5120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49040" y="4041648"/>
            <a:ext cx="45720" cy="594360"/>
          </a:xfrm>
          <a:prstGeom prst="rect">
            <a:avLst/>
          </a:prstGeom>
          <a:solidFill>
            <a:srgbClr val="5B6FA8"/>
          </a:solidFill>
          <a:ln w="12700">
            <a:solidFill>
              <a:srgbClr val="5B6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40782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Mixed-heritage &amp; 'other' men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86200" y="43616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in official statistics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4160520"/>
            <a:ext cx="1645920" cy="292608"/>
          </a:xfrm>
          <a:prstGeom prst="rect">
            <a:avLst/>
          </a:prstGeom>
          <a:solidFill>
            <a:srgbClr val="5B6FA8"/>
          </a:solidFill>
          <a:ln w="12700">
            <a:solidFill>
              <a:srgbClr val="5B6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4160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GENDER GAP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vs Female suicide rates — England &amp; Wales 2000-2024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gender gap has been constant for three decades — yet male suicide remains chronically underfunded relative to its scale.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14300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114300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143000"/>
            <a:ext cx="45720" cy="105156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1188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355080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male:female ratio in 2024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233172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2331720"/>
            <a:ext cx="45720" cy="1051560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377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355080" y="2926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deaths per year (E&amp;W avg)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17920" y="3520440"/>
            <a:ext cx="2606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3520440"/>
            <a:ext cx="457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355080" y="4114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share of suicides — unchanged since 1990s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 IN CRISIS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suicide rates by UK nation — 2024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Wales and Northern Ireland significantly above the England baseline. Wales recorded its highest rate in a decade.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1430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943600" y="1143000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143000"/>
            <a:ext cx="4572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11704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080760" y="15819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43600" y="2002536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2002536"/>
            <a:ext cx="45720" cy="73152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0482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202996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080760" y="2441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deaths (2024)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943600" y="2862072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0" y="2862072"/>
            <a:ext cx="45720" cy="731520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2907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06640" y="28895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080760" y="330098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 in one year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43600" y="3721608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43600" y="3721608"/>
            <a:ext cx="4572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3767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Ireland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06640" y="37490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6080760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elevated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0526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&amp;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749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systemic gap no one talks about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457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was never designed for them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11704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mental health services show consistent, measurable disparities across every touchpoint — from initial referral to therapy completion — for men from ethnic minority backgrounds.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2057400"/>
            <a:ext cx="5120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2057400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1396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to NHS Talking Therapies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7804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White British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2679192"/>
            <a:ext cx="5120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2679192"/>
            <a:ext cx="45720" cy="530352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761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and entered treatment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27706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White British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3300984"/>
            <a:ext cx="5120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3300984"/>
            <a:ext cx="45720" cy="530352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course of therapy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White British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3922776"/>
            <a:ext cx="5120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3922776"/>
            <a:ext cx="457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4005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reliable improvement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40142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White British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46634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NHS Digital — NHS Talking Therapies Annual Report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SERVICE DISPARITIES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indicators. The same story.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Detention Rate Index (White British = 1.0)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18872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754880" y="896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IAPT Therapy Completion — Minority Men vs White British (%)</a:t>
            </a:r>
            <a:endParaRPr lang="en-US" sz="10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754880" y="1188720"/>
          <a:ext cx="4023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D0872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749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system fails minority men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548640"/>
            <a:ext cx="24231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49040" y="548640"/>
            <a:ext cx="24231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731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14300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men disproportionately in deprived deciles. Suicide rate correlates strongly with deprivation (r = 0.73 — ONS IMD analysis).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548640"/>
            <a:ext cx="24231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548640"/>
            <a:ext cx="2423160" cy="9144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731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stigma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14300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 culture, masculinity norms, and distrust of mental health services — particularly among South Asian and GRT men.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2743200"/>
            <a:ext cx="24231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2743200"/>
            <a:ext cx="2423160" cy="91440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33375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Under-representation of bilingual therapists. IAPT materials seldom available in community languages.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2743200"/>
            <a:ext cx="24231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2743200"/>
            <a:ext cx="24231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Underreporting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33756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 minority suicide often coded as 'undetermined'. The data is systematically incomplete — real rates are almost certainly higher.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ANALYSIS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suicide rate by age band — England &amp; Wales 2024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 men carry the highest burden. Minority men in these age groups face compound disadvantage from deprivation and reduced service access.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188720"/>
          <a:ext cx="6400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949440" y="1188720"/>
            <a:ext cx="1874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9440" y="1188720"/>
            <a:ext cx="45720" cy="137160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12344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086600" y="1965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50-54 age group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949440" y="2697480"/>
            <a:ext cx="1874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49440" y="2697480"/>
            <a:ext cx="45720" cy="1371600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27432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7086600" y="3520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GRT vs national avg (ages 40-54)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49440" y="4206240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49440" y="4206240"/>
            <a:ext cx="457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423367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Mid-life + minoritisation = highest compound risk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REBOUND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2018-2024: the pandemic dip and the rebound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temporary COVID-19 dip in 2020 was followed by a sustained rise. Wales hit a 10-year high in 2024.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143000"/>
          <a:ext cx="6858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360920" y="114300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06640" y="1188720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Wales +14%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E&amp;W highest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century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60920" y="283464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06640" y="2880360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Lockdown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- then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DATA 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undercount the reality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45720" cy="169164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small-number suppression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904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Ethnicity-specific suicide counts for smaller communities are routinely suppressed to prevent identification — making minority suicide invisible in official data.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45720" cy="1691640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'Not stated' ethnicity coding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14904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30-40% of suicide death certificates have ethnicity coded as 'not stated' — disproportionately affecting minority communities.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45720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verdict exclusions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4107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returned as open verdicts are excluded from suicide counts. Evidence suggests this exclusion falls disproportionately on minority men.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80360"/>
            <a:ext cx="457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GRT data collection failure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4107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Gypsy, Roma &amp; Traveller communities are not systematically recorded in NHS or ONS data. Their suicide burden is estimated, not measured.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solidFill>
            <a:srgbClr val="FFF1F2"/>
          </a:solidFill>
          <a:ln w="9525">
            <a:solidFill>
              <a:srgbClr val="FE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true scale of minority male suicide is unknown — and almost certainly larger than what we can measure.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INTERVENTIONS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— and what the data demands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60120"/>
            <a:ext cx="2743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430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mental health hubs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161848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Co-designed with Black, Asian, and GRT communities. Culturally resonant, peer-led, trusted spaces.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2743200" cy="109728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430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&amp; culturally trained therapists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161848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BME-specialist IAPT practitioners — first step to closing the 50% therapy completion gap.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60120"/>
            <a:ext cx="2743200" cy="109728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1430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ethnicity coding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90488" y="161848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requirement to record ethnicity on death certificates. Remove the data gap at source.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27432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0175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mental health focus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349300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programmes in transport, construction, security — where minority men are overrepresented.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743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175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peer support networks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0128" y="349300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Sheds, Black Men Walking, GRT peer programmes — proven to reduce isolation and crisis risk.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283464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834640"/>
            <a:ext cx="2743200" cy="109728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30175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data transparency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90488" y="349300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ethnicity x gender x age breakdowns for all mental health statistics. Make the burden visible.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— What the data shows 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097280"/>
          </a:xfrm>
          <a:prstGeom prst="rect">
            <a:avLst/>
          </a:prstGeom>
          <a:solidFill>
            <a:srgbClr val="1E2550"/>
          </a:solidFill>
          <a:ln w="6350">
            <a:solidFill>
              <a:srgbClr val="2E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male suicide rate in 2024: 17.6 per 100k — the highest this century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206240" cy="1097280"/>
          </a:xfrm>
          <a:prstGeom prst="rect">
            <a:avLst/>
          </a:prstGeom>
          <a:solidFill>
            <a:srgbClr val="1E2550"/>
          </a:solidFill>
          <a:ln w="6350">
            <a:solidFill>
              <a:srgbClr val="2E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143000"/>
            <a:ext cx="54864" cy="109728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161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6733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Wales hit 25.0 per 100k in 2024 — a +14% single-year jump, a 10-year high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4206240" cy="1097280"/>
          </a:xfrm>
          <a:prstGeom prst="rect">
            <a:avLst/>
          </a:prstGeom>
          <a:solidFill>
            <a:srgbClr val="1E2550"/>
          </a:solidFill>
          <a:ln w="6350">
            <a:solidFill>
              <a:srgbClr val="2E3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77440"/>
            <a:ext cx="54864" cy="1097280"/>
          </a:xfrm>
          <a:prstGeom prst="rect">
            <a:avLst/>
          </a:prstGeom>
          <a:solidFill>
            <a:srgbClr val="D08726"/>
          </a:solidFill>
          <a:ln w="12700">
            <a:solidFill>
              <a:srgbClr val="D08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50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8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29077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men are detained under the MHA at 4x the rate of White British men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377440"/>
            <a:ext cx="4206240" cy="1097280"/>
          </a:xfrm>
          <a:prstGeom prst="rect">
            <a:avLst/>
          </a:prstGeom>
          <a:solidFill>
            <a:srgbClr val="1E2550"/>
          </a:solidFill>
          <a:ln w="6350">
            <a:solidFill>
              <a:srgbClr val="2E3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37744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50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29077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men complete NHS therapy at ~50% the rate of White British patients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4206240" cy="1097280"/>
          </a:xfrm>
          <a:prstGeom prst="rect">
            <a:avLst/>
          </a:prstGeom>
          <a:solidFill>
            <a:srgbClr val="1E2550"/>
          </a:solidFill>
          <a:ln w="6350">
            <a:solidFill>
              <a:srgbClr val="2E3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850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41422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 x deprivation creates compound risk invisible in national averages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611880"/>
            <a:ext cx="4206240" cy="1097280"/>
          </a:xfrm>
          <a:prstGeom prst="rect">
            <a:avLst/>
          </a:prstGeom>
          <a:solidFill>
            <a:srgbClr val="1E2550"/>
          </a:solidFill>
          <a:ln w="6350">
            <a:solidFill>
              <a:srgbClr val="2E3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611880"/>
            <a:ext cx="54864" cy="1097280"/>
          </a:xfrm>
          <a:prstGeom prst="rect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6850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83480" y="41422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minority suicide burden is systematically undercounted — real scale is unknown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52A"/>
          </a:solidFill>
          <a:ln w="12700">
            <a:solidFill>
              <a:srgbClr val="1115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Burden  |  UK Male Suicide &amp; Race  |  ksmhlanga@gmail.com  |  datascienceportfol.io/ksmhlanga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Analyst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Kudzanayi Shepherd Mhlanga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PSV Mechanic  &gt;  </a:t>
            </a:r>
            <a:r>
              <a:rPr lang="en-US" sz="11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Harare, Zimbabwe  |  London, England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personal as much as it is analytical. Working alongside drivers, engineers and operational staff — many of them men from minority backgrounds in demanding roles — the data represents people, not numbers.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834640" cy="3474720"/>
          </a:xfrm>
          <a:prstGeom prst="rect">
            <a:avLst/>
          </a:prstGeom>
          <a:solidFill>
            <a:srgbClr val="1E2550"/>
          </a:solidFill>
          <a:ln w="6350">
            <a:solidFill>
              <a:srgbClr val="2E3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914400"/>
            <a:ext cx="28346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8076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ksmhlanga@gmail.com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2286000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datascienceportfol.io/ksmhlanga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2971800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8076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github.com/ksmhlanga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3657600"/>
            <a:ext cx="731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silent-burden-uk.vercel.app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1152A"/>
          </a:solidFill>
          <a:ln w="12700">
            <a:solidFill>
              <a:srgbClr val="111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25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support: Samaritans 116 123 (24/7)  |  CALM 0800 58 58 58  |  Shout text 85258  |  Black Minds Matter blackmindsmatter.co.uk  |  BAATN baatn.org.uk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or someone you know is struggling, please reach out. Help is available.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1402</Words>
  <Application>Microsoft Office PowerPoint</Application>
  <PresentationFormat>On-screen Show (16:9)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Silent Burden — UK Male Suicide, Race &amp; Mental Health</dc:title>
  <dc:subject>Data Analytics Portfolio Project</dc:subject>
  <dc:creator>Kudzanayi Shepherd Mhlanga</dc:creator>
  <cp:lastModifiedBy>Kudzanayi Shepherd Mhlanga</cp:lastModifiedBy>
  <cp:revision>2</cp:revision>
  <dcterms:created xsi:type="dcterms:W3CDTF">2026-06-14T15:06:12Z</dcterms:created>
  <dcterms:modified xsi:type="dcterms:W3CDTF">2026-07-01T11:33:33Z</dcterms:modified>
</cp:coreProperties>
</file>